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"/>
            <a:ext cx="11274552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000000"/>
                </a:solidFill>
              </a:rPr>
              <a:t>1. Data Preparation &amp; Characteristics</a:t>
            </a:r>
          </a:p>
          <a:p>
            <a:r>
              <a:rPr sz="1300" b="1">
                <a:solidFill>
                  <a:srgbClr val="555555"/>
                </a:solidFill>
              </a:rPr>
              <a:t>Audit findings, physical multi-modality, and preprocessing decisions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143000"/>
            <a:ext cx="530352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</a:pPr>
            <a:r>
              <a:rPr sz="1250" b="1">
                <a:solidFill>
                  <a:srgbClr val="000000"/>
                </a:solidFill>
              </a:rPr>
              <a:t>GitHub Repository: https://github.com/pavitra-d-byali/cyclone-preheater-anomaly-detection</a:t>
            </a:r>
          </a:p>
          <a:p>
            <a:pPr>
              <a:spcAft>
                <a:spcPts val="500"/>
              </a:spcAft>
            </a:pPr>
            <a:r>
              <a:rPr sz="1250" b="1">
                <a:solidFill>
                  <a:srgbClr val="000000"/>
                </a:solidFill>
              </a:rPr>
              <a:t>Core Dataset Metrics: 377,719 rows x 7 cols (3 temperatures + 3 drafts) over 1,436 days (2017–2020).</a:t>
            </a:r>
          </a:p>
          <a:p>
            <a:pPr>
              <a:spcAft>
                <a:spcPts val="500"/>
              </a:spcAft>
            </a:pPr>
            <a:r>
              <a:rPr sz="1250" b="0">
                <a:solidFill>
                  <a:srgbClr val="222222"/>
                </a:solidFill>
              </a:rPr>
              <a:t>• Sampling cadence: 5 min | 14 multi-day acquisition dropouts (&gt; 5 min).</a:t>
            </a:r>
          </a:p>
          <a:p>
            <a:pPr>
              <a:spcAft>
                <a:spcPts val="500"/>
              </a:spcAft>
            </a:pPr>
            <a:r>
              <a:rPr sz="1250" b="1">
                <a:solidFill>
                  <a:srgbClr val="000000"/>
                </a:solidFill>
              </a:rPr>
              <a:t>Key Quality Discoveries:</a:t>
            </a:r>
          </a:p>
          <a:p>
            <a:pPr>
              <a:spcAft>
                <a:spcPts val="500"/>
              </a:spcAft>
            </a:pPr>
            <a:r>
              <a:rPr sz="1250" b="0">
                <a:solidFill>
                  <a:srgbClr val="222222"/>
                </a:solidFill>
              </a:rPr>
              <a:t>• Dual timestamp locales (DD-MM-YYYY &amp; M/D/YYYY) resolved dynamically.</a:t>
            </a:r>
          </a:p>
          <a:p>
            <a:pPr>
              <a:spcAft>
                <a:spcPts val="500"/>
              </a:spcAft>
            </a:pPr>
            <a:r>
              <a:rPr sz="1250" b="0">
                <a:solidFill>
                  <a:srgbClr val="222222"/>
                </a:solidFill>
              </a:rPr>
              <a:t>• File was text-sorted; chronologically re-ordered in preprocessing.</a:t>
            </a:r>
          </a:p>
          <a:p>
            <a:pPr>
              <a:spcAft>
                <a:spcPts val="500"/>
              </a:spcAft>
            </a:pPr>
            <a:r>
              <a:rPr sz="1250" b="0">
                <a:solidFill>
                  <a:srgbClr val="222222"/>
                </a:solidFill>
              </a:rPr>
              <a:t>• 1,595 sentinel rows preserved as NaN (reported as outages; never dropped).</a:t>
            </a:r>
          </a:p>
          <a:p>
            <a:pPr>
              <a:spcAft>
                <a:spcPts val="500"/>
              </a:spcAft>
            </a:pPr>
            <a:r>
              <a:rPr sz="1250" b="1">
                <a:solidFill>
                  <a:srgbClr val="000000"/>
                </a:solidFill>
              </a:rPr>
              <a:t>Treatment Policy:</a:t>
            </a:r>
          </a:p>
          <a:p>
            <a:pPr>
              <a:spcAft>
                <a:spcPts val="500"/>
              </a:spcAft>
            </a:pPr>
            <a:r>
              <a:rPr sz="1250" b="0">
                <a:solidFill>
                  <a:srgbClr val="222222"/>
                </a:solidFill>
              </a:rPr>
              <a:t>• Zero clipping of extremes (preserves true candidate anomalies).</a:t>
            </a:r>
          </a:p>
          <a:p>
            <a:pPr>
              <a:spcAft>
                <a:spcPts val="500"/>
              </a:spcAft>
            </a:pPr>
            <a:r>
              <a:rPr sz="1250" b="0">
                <a:solidFill>
                  <a:srgbClr val="222222"/>
                </a:solidFill>
              </a:rPr>
              <a:t>• Median / IQR robust scaling (50% breakdown prevents scaler distortion).</a:t>
            </a:r>
          </a:p>
        </p:txBody>
      </p:sp>
      <p:pic>
        <p:nvPicPr>
          <p:cNvPr id="4" name="Picture 3" descr="02_distribution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43600" y="1143000"/>
            <a:ext cx="5760720" cy="3072384"/>
          </a:xfrm>
          <a:prstGeom prst="rect">
            <a:avLst/>
          </a:prstGeom>
        </p:spPr>
      </p:pic>
      <p:pic>
        <p:nvPicPr>
          <p:cNvPr id="5" name="Picture 4" descr="04_missing_pattern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943600" y="4434840"/>
            <a:ext cx="5760720" cy="900112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"/>
            <a:ext cx="11274552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000000"/>
                </a:solidFill>
              </a:rPr>
              <a:t>2. Analysis Strategy &amp; Architecture</a:t>
            </a:r>
          </a:p>
          <a:p>
            <a:r>
              <a:rPr sz="1300" b="1">
                <a:solidFill>
                  <a:srgbClr val="555555"/>
                </a:solidFill>
              </a:rPr>
              <a:t>Fit-for-purpose unsupervised pipeline with temporal persistence filtering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143000"/>
            <a:ext cx="11274552" cy="2468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</a:pPr>
            <a:r>
              <a:rPr sz="1250" b="1">
                <a:solidFill>
                  <a:srgbClr val="000000"/>
                </a:solidFill>
              </a:rPr>
              <a:t>End-to-End Methodological Approach:</a:t>
            </a:r>
          </a:p>
          <a:p>
            <a:pPr>
              <a:spcAft>
                <a:spcPts val="500"/>
              </a:spcAft>
            </a:pPr>
            <a:r>
              <a:rPr sz="1250" b="0">
                <a:solidFill>
                  <a:srgbClr val="222222"/>
                </a:solidFill>
              </a:rPr>
              <a:t>• 1. Causal Rolling Features: Trailing median/MAD robust z-scores (no future leakage).</a:t>
            </a:r>
          </a:p>
          <a:p>
            <a:pPr>
              <a:spcAft>
                <a:spcPts val="500"/>
              </a:spcAft>
            </a:pPr>
            <a:r>
              <a:rPr sz="1250" b="0">
                <a:solidFill>
                  <a:srgbClr val="222222"/>
                </a:solidFill>
              </a:rPr>
              <a:t>• 2. Operating Regimes: MiniBatchKMeans (k=2) captures HOT (889 °C) vs COLD (33 °C).</a:t>
            </a:r>
          </a:p>
          <a:p>
            <a:pPr>
              <a:spcAft>
                <a:spcPts val="500"/>
              </a:spcAft>
            </a:pPr>
            <a:r>
              <a:rPr sz="1250" b="0">
                <a:solidFill>
                  <a:srgbClr val="222222"/>
                </a:solidFill>
              </a:rPr>
              <a:t>• 3. Composite Contextual Scoring: Combines local deviation with regime bounds.</a:t>
            </a:r>
          </a:p>
          <a:p>
            <a:pPr>
              <a:spcAft>
                <a:spcPts val="500"/>
              </a:spcAft>
            </a:pPr>
            <a:r>
              <a:rPr sz="1250" b="0">
                <a:solidFill>
                  <a:srgbClr val="222222"/>
                </a:solidFill>
              </a:rPr>
              <a:t>• 4. Temporal Persistence: Requires &gt;=30 min sustained run; bridges &lt;=15 min gaps.</a:t>
            </a:r>
          </a:p>
          <a:p>
            <a:pPr>
              <a:spcAft>
                <a:spcPts val="500"/>
              </a:spcAft>
            </a:pPr>
            <a:r>
              <a:rPr sz="1250" b="0">
                <a:solidFill>
                  <a:srgbClr val="222222"/>
                </a:solidFill>
              </a:rPr>
              <a:t>• 5. Context Separation: Physical evidence chains isolate startup/shutdown cycles.</a:t>
            </a:r>
          </a:p>
          <a:p>
            <a:pPr>
              <a:spcAft>
                <a:spcPts val="500"/>
              </a:spcAft>
            </a:pPr>
            <a:r>
              <a:rPr sz="1250" b="1">
                <a:solidFill>
                  <a:srgbClr val="000000"/>
                </a:solidFill>
              </a:rPr>
              <a:t>Why This Approach Fits SCADA Data:</a:t>
            </a:r>
          </a:p>
          <a:p>
            <a:pPr>
              <a:spcAft>
                <a:spcPts val="500"/>
              </a:spcAft>
            </a:pPr>
            <a:r>
              <a:rPr sz="1250" b="0">
                <a:solidFill>
                  <a:srgbClr val="222222"/>
                </a:solidFill>
              </a:rPr>
              <a:t>• Deep Learning Rejected: Zero ground-truth labels for training; 6 channels do not justify opaque black-box models.</a:t>
            </a:r>
          </a:p>
          <a:p>
            <a:pPr>
              <a:spcAft>
                <a:spcPts val="500"/>
              </a:spcAft>
            </a:pPr>
            <a:r>
              <a:rPr sz="1250" b="0">
                <a:solidFill>
                  <a:srgbClr val="222222"/>
                </a:solidFill>
              </a:rPr>
              <a:t>• Isolation Forest as Corroboration: Pointwise IF flags single-sample noise; used strictly as corroborating multivariate evidence.</a:t>
            </a:r>
          </a:p>
          <a:p>
            <a:pPr>
              <a:spcAft>
                <a:spcPts val="500"/>
              </a:spcAft>
            </a:pPr>
            <a:r>
              <a:rPr sz="1250" b="0">
                <a:solidFill>
                  <a:srgbClr val="222222"/>
                </a:solidFill>
              </a:rPr>
              <a:t>• Temporal Persistence is Essential: Genuine plant upsets persist; momentary sensor flicker is filtered out.</a:t>
            </a:r>
          </a:p>
        </p:txBody>
      </p:sp>
      <p:pic>
        <p:nvPicPr>
          <p:cNvPr id="4" name="Picture 3" descr="09_pipeline_architectur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97280" y="3794760"/>
            <a:ext cx="10058400" cy="4224528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"/>
            <a:ext cx="11274552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000000"/>
                </a:solidFill>
              </a:rPr>
              <a:t>3. Detected Abnormal Periods</a:t>
            </a:r>
          </a:p>
          <a:p>
            <a:r>
              <a:rPr sz="1300" b="1">
                <a:solidFill>
                  <a:srgbClr val="555555"/>
                </a:solidFill>
              </a:rPr>
              <a:t>Contiguous persisted events, physical categorization, and top-15 leaderboard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51560"/>
            <a:ext cx="11274552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</a:pPr>
            <a:r>
              <a:rPr sz="1200" b="1">
                <a:solidFill>
                  <a:srgbClr val="000000"/>
                </a:solidFill>
              </a:rPr>
              <a:t>Flagged Points: 39,441 (10.44% of dataset)  |  Total Detected Periods: 1055</a:t>
            </a:r>
          </a:p>
          <a:p>
            <a:pPr>
              <a:spcAft>
                <a:spcPts val="500"/>
              </a:spcAft>
            </a:pPr>
            <a:r>
              <a:rPr sz="1200" b="0">
                <a:solidFill>
                  <a:srgbClr val="222222"/>
                </a:solidFill>
              </a:rPr>
              <a:t>• • Rankable Process/Instrument Anomalies: 879  (Process: 386, Faults: 49, Single-sensor: 348)</a:t>
            </a:r>
          </a:p>
          <a:p>
            <a:pPr>
              <a:spcAft>
                <a:spcPts val="500"/>
              </a:spcAft>
            </a:pPr>
            <a:r>
              <a:rPr sz="1200" b="0">
                <a:solidFill>
                  <a:srgbClr val="222222"/>
                </a:solidFill>
              </a:rPr>
              <a:t>• • Operating Context Isolated: 88 Startup + 87 Shutdown + 1 Post-Outage (Scored, never ranked)</a:t>
            </a:r>
          </a:p>
          <a:p>
            <a:pPr>
              <a:spcAft>
                <a:spcPts val="500"/>
              </a:spcAft>
            </a:pPr>
            <a:r>
              <a:rPr sz="1200" b="0">
                <a:solidFill>
                  <a:srgbClr val="222222"/>
                </a:solidFill>
              </a:rPr>
              <a:t>• • Duration Profile: Median 75 min  |  Max 5850 min (97.5 h)  |  357 Acquisition outages reported separately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457200" y="2606040"/>
          <a:ext cx="11274552" cy="3977639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65760"/>
                <a:gridCol w="2011680"/>
                <a:gridCol w="2011680"/>
                <a:gridCol w="685800"/>
                <a:gridCol w="685800"/>
                <a:gridCol w="1920240"/>
                <a:gridCol w="3593592"/>
              </a:tblGrid>
              <a:tr h="248602">
                <a:tc>
                  <a:txBody>
                    <a:bodyPr/>
                    <a:lstStyle/>
                    <a:p>
                      <a:pPr algn="l"/>
                      <a:r>
                        <a:rPr sz="850" b="1">
                          <a:solidFill>
                            <a:srgbClr val="FFFFFF"/>
                          </a:solidFill>
                        </a:rPr>
                        <a:t>#</a:t>
                      </a:r>
                    </a:p>
                  </a:txBody>
                  <a:tcPr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50" b="1">
                          <a:solidFill>
                            <a:srgbClr val="FFFFFF"/>
                          </a:solidFill>
                        </a:rPr>
                        <a:t>Start</a:t>
                      </a:r>
                    </a:p>
                  </a:txBody>
                  <a:tcPr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50" b="1">
                          <a:solidFill>
                            <a:srgbClr val="FFFFFF"/>
                          </a:solidFill>
                        </a:rPr>
                        <a:t>End</a:t>
                      </a:r>
                    </a:p>
                  </a:txBody>
                  <a:tcPr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50" b="1">
                          <a:solidFill>
                            <a:srgbClr val="FFFFFF"/>
                          </a:solidFill>
                        </a:rPr>
                        <a:t>Min</a:t>
                      </a:r>
                    </a:p>
                  </a:txBody>
                  <a:tcPr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50" b="1">
                          <a:solidFill>
                            <a:srgbClr val="FFFFFF"/>
                          </a:solidFill>
                        </a:rPr>
                        <a:t>Sev</a:t>
                      </a:r>
                    </a:p>
                  </a:txBody>
                  <a:tcPr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50" b="1">
                          <a:solidFill>
                            <a:srgbClr val="FFFFFF"/>
                          </a:solidFill>
                        </a:rPr>
                        <a:t>Category</a:t>
                      </a:r>
                    </a:p>
                  </a:txBody>
                  <a:tcPr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50" b="1">
                          <a:solidFill>
                            <a:srgbClr val="FFFFFF"/>
                          </a:solidFill>
                        </a:rPr>
                        <a:t>Affected Sensors</a:t>
                      </a:r>
                    </a:p>
                  </a:txBody>
                  <a:tcPr>
                    <a:solidFill>
                      <a:srgbClr val="000000"/>
                    </a:solidFill>
                  </a:tcPr>
                </a:tc>
              </a:tr>
              <a:tr h="248602">
                <a:tc>
                  <a:txBody>
                    <a:bodyPr/>
                    <a:lstStyle/>
                    <a:p>
                      <a:pPr algn="l"/>
                      <a:r>
                        <a:rPr sz="850" b="0">
                          <a:solidFill>
                            <a:srgbClr val="000000"/>
                          </a:solidFill>
                        </a:rPr>
                        <a:t>1</a:t>
                      </a:r>
                    </a:p>
                  </a:txBody>
                  <a:tcPr>
                    <a:solidFill>
                      <a:srgbClr val="FAFA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50" b="0">
                          <a:solidFill>
                            <a:srgbClr val="000000"/>
                          </a:solidFill>
                        </a:rPr>
                        <a:t>2018-07-15 21:15:00</a:t>
                      </a:r>
                    </a:p>
                  </a:txBody>
                  <a:tcPr>
                    <a:solidFill>
                      <a:srgbClr val="FAFA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50" b="0">
                          <a:solidFill>
                            <a:srgbClr val="000000"/>
                          </a:solidFill>
                        </a:rPr>
                        <a:t>2018-07-15 23:35:00</a:t>
                      </a:r>
                    </a:p>
                  </a:txBody>
                  <a:tcPr>
                    <a:solidFill>
                      <a:srgbClr val="FAFA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50" b="0">
                          <a:solidFill>
                            <a:srgbClr val="000000"/>
                          </a:solidFill>
                        </a:rPr>
                        <a:t>145</a:t>
                      </a:r>
                    </a:p>
                  </a:txBody>
                  <a:tcPr>
                    <a:solidFill>
                      <a:srgbClr val="FAFA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50" b="0">
                          <a:solidFill>
                            <a:srgbClr val="000000"/>
                          </a:solidFill>
                        </a:rPr>
                        <a:t>1.000</a:t>
                      </a:r>
                    </a:p>
                  </a:txBody>
                  <a:tcPr>
                    <a:solidFill>
                      <a:srgbClr val="FAFA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50" b="0">
                          <a:solidFill>
                            <a:srgbClr val="000000"/>
                          </a:solidFill>
                        </a:rPr>
                        <a:t>instrument_fault</a:t>
                      </a:r>
                    </a:p>
                  </a:txBody>
                  <a:tcPr>
                    <a:solidFill>
                      <a:srgbClr val="FAFA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50" b="0">
                          <a:solidFill>
                            <a:srgbClr val="000000"/>
                          </a:solidFill>
                        </a:rPr>
                        <a:t>Inlet_Temp; Mat_Temp; Outlet_draft; cone_draf</a:t>
                      </a:r>
                    </a:p>
                  </a:txBody>
                  <a:tcPr>
                    <a:solidFill>
                      <a:srgbClr val="FAFAFA"/>
                    </a:solidFill>
                  </a:tcPr>
                </a:tc>
              </a:tr>
              <a:tr h="248602">
                <a:tc>
                  <a:txBody>
                    <a:bodyPr/>
                    <a:lstStyle/>
                    <a:p>
                      <a:pPr algn="l"/>
                      <a:r>
                        <a:rPr sz="850" b="0">
                          <a:solidFill>
                            <a:srgbClr val="000000"/>
                          </a:solidFill>
                        </a:rPr>
                        <a:t>2</a:t>
                      </a:r>
                    </a:p>
                  </a:txBody>
                  <a:tcPr>
                    <a:solidFill>
                      <a:srgbClr val="EEEEEE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50" b="0">
                          <a:solidFill>
                            <a:srgbClr val="000000"/>
                          </a:solidFill>
                        </a:rPr>
                        <a:t>2020-05-17 10:30:00</a:t>
                      </a:r>
                    </a:p>
                  </a:txBody>
                  <a:tcPr>
                    <a:solidFill>
                      <a:srgbClr val="EEEEEE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50" b="0">
                          <a:solidFill>
                            <a:srgbClr val="000000"/>
                          </a:solidFill>
                        </a:rPr>
                        <a:t>2020-05-17 22:20:00</a:t>
                      </a:r>
                    </a:p>
                  </a:txBody>
                  <a:tcPr>
                    <a:solidFill>
                      <a:srgbClr val="EEEEEE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50" b="0">
                          <a:solidFill>
                            <a:srgbClr val="000000"/>
                          </a:solidFill>
                        </a:rPr>
                        <a:t>715</a:t>
                      </a:r>
                    </a:p>
                  </a:txBody>
                  <a:tcPr>
                    <a:solidFill>
                      <a:srgbClr val="EEEEEE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50" b="0">
                          <a:solidFill>
                            <a:srgbClr val="000000"/>
                          </a:solidFill>
                        </a:rPr>
                        <a:t>0.973</a:t>
                      </a:r>
                    </a:p>
                  </a:txBody>
                  <a:tcPr>
                    <a:solidFill>
                      <a:srgbClr val="EEEEEE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50" b="0">
                          <a:solidFill>
                            <a:srgbClr val="000000"/>
                          </a:solidFill>
                        </a:rPr>
                        <a:t>process_correlated</a:t>
                      </a:r>
                    </a:p>
                  </a:txBody>
                  <a:tcPr>
                    <a:solidFill>
                      <a:srgbClr val="EEEEEE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50" b="0">
                          <a:solidFill>
                            <a:srgbClr val="000000"/>
                          </a:solidFill>
                        </a:rPr>
                        <a:t>Inlet_Temp; Mat_Temp; Outlet_draft; cone_draf</a:t>
                      </a:r>
                    </a:p>
                  </a:txBody>
                  <a:tcPr>
                    <a:solidFill>
                      <a:srgbClr val="EEEEEE"/>
                    </a:solidFill>
                  </a:tcPr>
                </a:tc>
              </a:tr>
              <a:tr h="248602">
                <a:tc>
                  <a:txBody>
                    <a:bodyPr/>
                    <a:lstStyle/>
                    <a:p>
                      <a:pPr algn="l"/>
                      <a:r>
                        <a:rPr sz="850" b="0">
                          <a:solidFill>
                            <a:srgbClr val="000000"/>
                          </a:solidFill>
                        </a:rPr>
                        <a:t>3</a:t>
                      </a:r>
                    </a:p>
                  </a:txBody>
                  <a:tcPr>
                    <a:solidFill>
                      <a:srgbClr val="FAFA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50" b="0">
                          <a:solidFill>
                            <a:srgbClr val="000000"/>
                          </a:solidFill>
                        </a:rPr>
                        <a:t>2017-08-06 16:30:00</a:t>
                      </a:r>
                    </a:p>
                  </a:txBody>
                  <a:tcPr>
                    <a:solidFill>
                      <a:srgbClr val="FAFA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50" b="0">
                          <a:solidFill>
                            <a:srgbClr val="000000"/>
                          </a:solidFill>
                        </a:rPr>
                        <a:t>2017-08-07 01:20:00</a:t>
                      </a:r>
                    </a:p>
                  </a:txBody>
                  <a:tcPr>
                    <a:solidFill>
                      <a:srgbClr val="FAFA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50" b="0">
                          <a:solidFill>
                            <a:srgbClr val="000000"/>
                          </a:solidFill>
                        </a:rPr>
                        <a:t>535</a:t>
                      </a:r>
                    </a:p>
                  </a:txBody>
                  <a:tcPr>
                    <a:solidFill>
                      <a:srgbClr val="FAFA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50" b="0">
                          <a:solidFill>
                            <a:srgbClr val="000000"/>
                          </a:solidFill>
                        </a:rPr>
                        <a:t>0.968</a:t>
                      </a:r>
                    </a:p>
                  </a:txBody>
                  <a:tcPr>
                    <a:solidFill>
                      <a:srgbClr val="FAFA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50" b="0">
                          <a:solidFill>
                            <a:srgbClr val="000000"/>
                          </a:solidFill>
                        </a:rPr>
                        <a:t>process_correlated</a:t>
                      </a:r>
                    </a:p>
                  </a:txBody>
                  <a:tcPr>
                    <a:solidFill>
                      <a:srgbClr val="FAFA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50" b="0">
                          <a:solidFill>
                            <a:srgbClr val="000000"/>
                          </a:solidFill>
                        </a:rPr>
                        <a:t>Inlet_Temp; Mat_Temp; Outlet_draft; cone_draf</a:t>
                      </a:r>
                    </a:p>
                  </a:txBody>
                  <a:tcPr>
                    <a:solidFill>
                      <a:srgbClr val="FAFAFA"/>
                    </a:solidFill>
                  </a:tcPr>
                </a:tc>
              </a:tr>
              <a:tr h="248602">
                <a:tc>
                  <a:txBody>
                    <a:bodyPr/>
                    <a:lstStyle/>
                    <a:p>
                      <a:pPr algn="l"/>
                      <a:r>
                        <a:rPr sz="850" b="0">
                          <a:solidFill>
                            <a:srgbClr val="000000"/>
                          </a:solidFill>
                        </a:rPr>
                        <a:t>4</a:t>
                      </a:r>
                    </a:p>
                  </a:txBody>
                  <a:tcPr>
                    <a:solidFill>
                      <a:srgbClr val="EEEEEE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50" b="0">
                          <a:solidFill>
                            <a:srgbClr val="000000"/>
                          </a:solidFill>
                        </a:rPr>
                        <a:t>2017-03-30 20:55:00</a:t>
                      </a:r>
                    </a:p>
                  </a:txBody>
                  <a:tcPr>
                    <a:solidFill>
                      <a:srgbClr val="EEEEEE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50" b="0">
                          <a:solidFill>
                            <a:srgbClr val="000000"/>
                          </a:solidFill>
                        </a:rPr>
                        <a:t>2017-03-30 23:30:00</a:t>
                      </a:r>
                    </a:p>
                  </a:txBody>
                  <a:tcPr>
                    <a:solidFill>
                      <a:srgbClr val="EEEEEE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50" b="0">
                          <a:solidFill>
                            <a:srgbClr val="000000"/>
                          </a:solidFill>
                        </a:rPr>
                        <a:t>160</a:t>
                      </a:r>
                    </a:p>
                  </a:txBody>
                  <a:tcPr>
                    <a:solidFill>
                      <a:srgbClr val="EEEEEE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50" b="0">
                          <a:solidFill>
                            <a:srgbClr val="000000"/>
                          </a:solidFill>
                        </a:rPr>
                        <a:t>0.965</a:t>
                      </a:r>
                    </a:p>
                  </a:txBody>
                  <a:tcPr>
                    <a:solidFill>
                      <a:srgbClr val="EEEEEE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50" b="0">
                          <a:solidFill>
                            <a:srgbClr val="000000"/>
                          </a:solidFill>
                        </a:rPr>
                        <a:t>process_correlated</a:t>
                      </a:r>
                    </a:p>
                  </a:txBody>
                  <a:tcPr>
                    <a:solidFill>
                      <a:srgbClr val="EEEEEE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50" b="0">
                          <a:solidFill>
                            <a:srgbClr val="000000"/>
                          </a:solidFill>
                        </a:rPr>
                        <a:t>Inlet_Temp; Outlet_draft; cone_draft; Outlet_</a:t>
                      </a:r>
                    </a:p>
                  </a:txBody>
                  <a:tcPr>
                    <a:solidFill>
                      <a:srgbClr val="EEEEEE"/>
                    </a:solidFill>
                  </a:tcPr>
                </a:tc>
              </a:tr>
              <a:tr h="248602">
                <a:tc>
                  <a:txBody>
                    <a:bodyPr/>
                    <a:lstStyle/>
                    <a:p>
                      <a:pPr algn="l"/>
                      <a:r>
                        <a:rPr sz="850" b="0">
                          <a:solidFill>
                            <a:srgbClr val="000000"/>
                          </a:solidFill>
                        </a:rPr>
                        <a:t>5</a:t>
                      </a:r>
                    </a:p>
                  </a:txBody>
                  <a:tcPr>
                    <a:solidFill>
                      <a:srgbClr val="FAFA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50" b="0">
                          <a:solidFill>
                            <a:srgbClr val="000000"/>
                          </a:solidFill>
                        </a:rPr>
                        <a:t>2019-07-04 20:10:00</a:t>
                      </a:r>
                    </a:p>
                  </a:txBody>
                  <a:tcPr>
                    <a:solidFill>
                      <a:srgbClr val="FAFA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50" b="0">
                          <a:solidFill>
                            <a:srgbClr val="000000"/>
                          </a:solidFill>
                        </a:rPr>
                        <a:t>2019-07-04 20:50:00</a:t>
                      </a:r>
                    </a:p>
                  </a:txBody>
                  <a:tcPr>
                    <a:solidFill>
                      <a:srgbClr val="FAFA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50" b="0">
                          <a:solidFill>
                            <a:srgbClr val="000000"/>
                          </a:solidFill>
                        </a:rPr>
                        <a:t>45</a:t>
                      </a:r>
                    </a:p>
                  </a:txBody>
                  <a:tcPr>
                    <a:solidFill>
                      <a:srgbClr val="FAFA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50" b="0">
                          <a:solidFill>
                            <a:srgbClr val="000000"/>
                          </a:solidFill>
                        </a:rPr>
                        <a:t>0.963</a:t>
                      </a:r>
                    </a:p>
                  </a:txBody>
                  <a:tcPr>
                    <a:solidFill>
                      <a:srgbClr val="FAFA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50" b="0">
                          <a:solidFill>
                            <a:srgbClr val="000000"/>
                          </a:solidFill>
                        </a:rPr>
                        <a:t>instrument_fault</a:t>
                      </a:r>
                    </a:p>
                  </a:txBody>
                  <a:tcPr>
                    <a:solidFill>
                      <a:srgbClr val="FAFA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50" b="0">
                          <a:solidFill>
                            <a:srgbClr val="000000"/>
                          </a:solidFill>
                        </a:rPr>
                        <a:t>Inlet_Temp; Mat_Temp; Outlet_draft; cone_draf</a:t>
                      </a:r>
                    </a:p>
                  </a:txBody>
                  <a:tcPr>
                    <a:solidFill>
                      <a:srgbClr val="FAFAFA"/>
                    </a:solidFill>
                  </a:tcPr>
                </a:tc>
              </a:tr>
              <a:tr h="248602">
                <a:tc>
                  <a:txBody>
                    <a:bodyPr/>
                    <a:lstStyle/>
                    <a:p>
                      <a:pPr algn="l"/>
                      <a:r>
                        <a:rPr sz="850" b="0">
                          <a:solidFill>
                            <a:srgbClr val="000000"/>
                          </a:solidFill>
                        </a:rPr>
                        <a:t>6</a:t>
                      </a:r>
                    </a:p>
                  </a:txBody>
                  <a:tcPr>
                    <a:solidFill>
                      <a:srgbClr val="EEEEEE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50" b="0">
                          <a:solidFill>
                            <a:srgbClr val="000000"/>
                          </a:solidFill>
                        </a:rPr>
                        <a:t>2018-09-07 00:00:00</a:t>
                      </a:r>
                    </a:p>
                  </a:txBody>
                  <a:tcPr>
                    <a:solidFill>
                      <a:srgbClr val="EEEEEE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50" b="0">
                          <a:solidFill>
                            <a:srgbClr val="000000"/>
                          </a:solidFill>
                        </a:rPr>
                        <a:t>2018-09-08 01:20:00</a:t>
                      </a:r>
                    </a:p>
                  </a:txBody>
                  <a:tcPr>
                    <a:solidFill>
                      <a:srgbClr val="EEEEEE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50" b="0">
                          <a:solidFill>
                            <a:srgbClr val="000000"/>
                          </a:solidFill>
                        </a:rPr>
                        <a:t>1525</a:t>
                      </a:r>
                    </a:p>
                  </a:txBody>
                  <a:tcPr>
                    <a:solidFill>
                      <a:srgbClr val="EEEEEE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50" b="0">
                          <a:solidFill>
                            <a:srgbClr val="000000"/>
                          </a:solidFill>
                        </a:rPr>
                        <a:t>0.936</a:t>
                      </a:r>
                    </a:p>
                  </a:txBody>
                  <a:tcPr>
                    <a:solidFill>
                      <a:srgbClr val="EEEEEE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50" b="0">
                          <a:solidFill>
                            <a:srgbClr val="000000"/>
                          </a:solidFill>
                        </a:rPr>
                        <a:t>process_correlated</a:t>
                      </a:r>
                    </a:p>
                  </a:txBody>
                  <a:tcPr>
                    <a:solidFill>
                      <a:srgbClr val="EEEEEE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50" b="0">
                          <a:solidFill>
                            <a:srgbClr val="000000"/>
                          </a:solidFill>
                        </a:rPr>
                        <a:t>Inlet_Temp; Mat_Temp; Outlet_draft; cone_draf</a:t>
                      </a:r>
                    </a:p>
                  </a:txBody>
                  <a:tcPr>
                    <a:solidFill>
                      <a:srgbClr val="EEEEEE"/>
                    </a:solidFill>
                  </a:tcPr>
                </a:tc>
              </a:tr>
              <a:tr h="248602">
                <a:tc>
                  <a:txBody>
                    <a:bodyPr/>
                    <a:lstStyle/>
                    <a:p>
                      <a:pPr algn="l"/>
                      <a:r>
                        <a:rPr sz="850" b="0">
                          <a:solidFill>
                            <a:srgbClr val="000000"/>
                          </a:solidFill>
                        </a:rPr>
                        <a:t>7</a:t>
                      </a:r>
                    </a:p>
                  </a:txBody>
                  <a:tcPr>
                    <a:solidFill>
                      <a:srgbClr val="FAFA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50" b="0">
                          <a:solidFill>
                            <a:srgbClr val="000000"/>
                          </a:solidFill>
                        </a:rPr>
                        <a:t>2019-06-30 22:20:00</a:t>
                      </a:r>
                    </a:p>
                  </a:txBody>
                  <a:tcPr>
                    <a:solidFill>
                      <a:srgbClr val="FAFA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50" b="0">
                          <a:solidFill>
                            <a:srgbClr val="000000"/>
                          </a:solidFill>
                        </a:rPr>
                        <a:t>2019-06-30 23:55:00</a:t>
                      </a:r>
                    </a:p>
                  </a:txBody>
                  <a:tcPr>
                    <a:solidFill>
                      <a:srgbClr val="FAFA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50" b="0">
                          <a:solidFill>
                            <a:srgbClr val="000000"/>
                          </a:solidFill>
                        </a:rPr>
                        <a:t>100</a:t>
                      </a:r>
                    </a:p>
                  </a:txBody>
                  <a:tcPr>
                    <a:solidFill>
                      <a:srgbClr val="FAFA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50" b="0">
                          <a:solidFill>
                            <a:srgbClr val="000000"/>
                          </a:solidFill>
                        </a:rPr>
                        <a:t>0.932</a:t>
                      </a:r>
                    </a:p>
                  </a:txBody>
                  <a:tcPr>
                    <a:solidFill>
                      <a:srgbClr val="FAFA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50" b="0">
                          <a:solidFill>
                            <a:srgbClr val="000000"/>
                          </a:solidFill>
                        </a:rPr>
                        <a:t>process_correlated</a:t>
                      </a:r>
                    </a:p>
                  </a:txBody>
                  <a:tcPr>
                    <a:solidFill>
                      <a:srgbClr val="FAFA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50" b="0">
                          <a:solidFill>
                            <a:srgbClr val="000000"/>
                          </a:solidFill>
                        </a:rPr>
                        <a:t>Inlet_Temp; Mat_Temp; Outlet_draft; cone_draf</a:t>
                      </a:r>
                    </a:p>
                  </a:txBody>
                  <a:tcPr>
                    <a:solidFill>
                      <a:srgbClr val="FAFAFA"/>
                    </a:solidFill>
                  </a:tcPr>
                </a:tc>
              </a:tr>
              <a:tr h="248602">
                <a:tc>
                  <a:txBody>
                    <a:bodyPr/>
                    <a:lstStyle/>
                    <a:p>
                      <a:pPr algn="l"/>
                      <a:r>
                        <a:rPr sz="850" b="0">
                          <a:solidFill>
                            <a:srgbClr val="000000"/>
                          </a:solidFill>
                        </a:rPr>
                        <a:t>8</a:t>
                      </a:r>
                    </a:p>
                  </a:txBody>
                  <a:tcPr>
                    <a:solidFill>
                      <a:srgbClr val="EEEEEE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50" b="0">
                          <a:solidFill>
                            <a:srgbClr val="000000"/>
                          </a:solidFill>
                        </a:rPr>
                        <a:t>2019-01-08 15:45:00</a:t>
                      </a:r>
                    </a:p>
                  </a:txBody>
                  <a:tcPr>
                    <a:solidFill>
                      <a:srgbClr val="EEEEEE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50" b="0">
                          <a:solidFill>
                            <a:srgbClr val="000000"/>
                          </a:solidFill>
                        </a:rPr>
                        <a:t>2019-01-09 01:20:00</a:t>
                      </a:r>
                    </a:p>
                  </a:txBody>
                  <a:tcPr>
                    <a:solidFill>
                      <a:srgbClr val="EEEEEE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50" b="0">
                          <a:solidFill>
                            <a:srgbClr val="000000"/>
                          </a:solidFill>
                        </a:rPr>
                        <a:t>580</a:t>
                      </a:r>
                    </a:p>
                  </a:txBody>
                  <a:tcPr>
                    <a:solidFill>
                      <a:srgbClr val="EEEEEE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50" b="0">
                          <a:solidFill>
                            <a:srgbClr val="000000"/>
                          </a:solidFill>
                        </a:rPr>
                        <a:t>0.924</a:t>
                      </a:r>
                    </a:p>
                  </a:txBody>
                  <a:tcPr>
                    <a:solidFill>
                      <a:srgbClr val="EEEEEE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50" b="0">
                          <a:solidFill>
                            <a:srgbClr val="000000"/>
                          </a:solidFill>
                        </a:rPr>
                        <a:t>process_correlated</a:t>
                      </a:r>
                    </a:p>
                  </a:txBody>
                  <a:tcPr>
                    <a:solidFill>
                      <a:srgbClr val="EEEEEE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50" b="0">
                          <a:solidFill>
                            <a:srgbClr val="000000"/>
                          </a:solidFill>
                        </a:rPr>
                        <a:t>Inlet_Temp; Mat_Temp; Outlet_draft; cone_draf</a:t>
                      </a:r>
                    </a:p>
                  </a:txBody>
                  <a:tcPr>
                    <a:solidFill>
                      <a:srgbClr val="EEEEEE"/>
                    </a:solidFill>
                  </a:tcPr>
                </a:tc>
              </a:tr>
              <a:tr h="248602">
                <a:tc>
                  <a:txBody>
                    <a:bodyPr/>
                    <a:lstStyle/>
                    <a:p>
                      <a:pPr algn="l"/>
                      <a:r>
                        <a:rPr sz="850" b="0">
                          <a:solidFill>
                            <a:srgbClr val="000000"/>
                          </a:solidFill>
                        </a:rPr>
                        <a:t>9</a:t>
                      </a:r>
                    </a:p>
                  </a:txBody>
                  <a:tcPr>
                    <a:solidFill>
                      <a:srgbClr val="FAFA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50" b="0">
                          <a:solidFill>
                            <a:srgbClr val="000000"/>
                          </a:solidFill>
                        </a:rPr>
                        <a:t>2017-07-31 04:30:00</a:t>
                      </a:r>
                    </a:p>
                  </a:txBody>
                  <a:tcPr>
                    <a:solidFill>
                      <a:srgbClr val="FAFA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50" b="0">
                          <a:solidFill>
                            <a:srgbClr val="000000"/>
                          </a:solidFill>
                        </a:rPr>
                        <a:t>2017-07-31 17:00:00</a:t>
                      </a:r>
                    </a:p>
                  </a:txBody>
                  <a:tcPr>
                    <a:solidFill>
                      <a:srgbClr val="FAFA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50" b="0">
                          <a:solidFill>
                            <a:srgbClr val="000000"/>
                          </a:solidFill>
                        </a:rPr>
                        <a:t>755</a:t>
                      </a:r>
                    </a:p>
                  </a:txBody>
                  <a:tcPr>
                    <a:solidFill>
                      <a:srgbClr val="FAFA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50" b="0">
                          <a:solidFill>
                            <a:srgbClr val="000000"/>
                          </a:solidFill>
                        </a:rPr>
                        <a:t>0.910</a:t>
                      </a:r>
                    </a:p>
                  </a:txBody>
                  <a:tcPr>
                    <a:solidFill>
                      <a:srgbClr val="FAFA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50" b="0">
                          <a:solidFill>
                            <a:srgbClr val="000000"/>
                          </a:solidFill>
                        </a:rPr>
                        <a:t>process_correlated</a:t>
                      </a:r>
                    </a:p>
                  </a:txBody>
                  <a:tcPr>
                    <a:solidFill>
                      <a:srgbClr val="FAFA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50" b="0">
                          <a:solidFill>
                            <a:srgbClr val="000000"/>
                          </a:solidFill>
                        </a:rPr>
                        <a:t>Inlet_Temp; Mat_Temp; Outlet_draft; Outlet_Te</a:t>
                      </a:r>
                    </a:p>
                  </a:txBody>
                  <a:tcPr>
                    <a:solidFill>
                      <a:srgbClr val="FAFAFA"/>
                    </a:solidFill>
                  </a:tcPr>
                </a:tc>
              </a:tr>
              <a:tr h="248602">
                <a:tc>
                  <a:txBody>
                    <a:bodyPr/>
                    <a:lstStyle/>
                    <a:p>
                      <a:pPr algn="l"/>
                      <a:r>
                        <a:rPr sz="850" b="0">
                          <a:solidFill>
                            <a:srgbClr val="000000"/>
                          </a:solidFill>
                        </a:rPr>
                        <a:t>10</a:t>
                      </a:r>
                    </a:p>
                  </a:txBody>
                  <a:tcPr>
                    <a:solidFill>
                      <a:srgbClr val="EEEEEE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50" b="0">
                          <a:solidFill>
                            <a:srgbClr val="000000"/>
                          </a:solidFill>
                        </a:rPr>
                        <a:t>2018-08-03 00:00:00</a:t>
                      </a:r>
                    </a:p>
                  </a:txBody>
                  <a:tcPr>
                    <a:solidFill>
                      <a:srgbClr val="EEEEEE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50" b="0">
                          <a:solidFill>
                            <a:srgbClr val="000000"/>
                          </a:solidFill>
                        </a:rPr>
                        <a:t>2018-08-03 01:20:00</a:t>
                      </a:r>
                    </a:p>
                  </a:txBody>
                  <a:tcPr>
                    <a:solidFill>
                      <a:srgbClr val="EEEEEE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50" b="0">
                          <a:solidFill>
                            <a:srgbClr val="000000"/>
                          </a:solidFill>
                        </a:rPr>
                        <a:t>85</a:t>
                      </a:r>
                    </a:p>
                  </a:txBody>
                  <a:tcPr>
                    <a:solidFill>
                      <a:srgbClr val="EEEEEE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50" b="0">
                          <a:solidFill>
                            <a:srgbClr val="000000"/>
                          </a:solidFill>
                        </a:rPr>
                        <a:t>0.898</a:t>
                      </a:r>
                    </a:p>
                  </a:txBody>
                  <a:tcPr>
                    <a:solidFill>
                      <a:srgbClr val="EEEEEE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50" b="0">
                          <a:solidFill>
                            <a:srgbClr val="000000"/>
                          </a:solidFill>
                        </a:rPr>
                        <a:t>process_correlated</a:t>
                      </a:r>
                    </a:p>
                  </a:txBody>
                  <a:tcPr>
                    <a:solidFill>
                      <a:srgbClr val="EEEEEE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50" b="0">
                          <a:solidFill>
                            <a:srgbClr val="000000"/>
                          </a:solidFill>
                        </a:rPr>
                        <a:t>Inlet_Temp; Outlet_draft; cone_draft; Outlet_</a:t>
                      </a:r>
                    </a:p>
                  </a:txBody>
                  <a:tcPr>
                    <a:solidFill>
                      <a:srgbClr val="EEEEEE"/>
                    </a:solidFill>
                  </a:tcPr>
                </a:tc>
              </a:tr>
              <a:tr h="248602">
                <a:tc>
                  <a:txBody>
                    <a:bodyPr/>
                    <a:lstStyle/>
                    <a:p>
                      <a:pPr algn="l"/>
                      <a:r>
                        <a:rPr sz="850" b="0">
                          <a:solidFill>
                            <a:srgbClr val="000000"/>
                          </a:solidFill>
                        </a:rPr>
                        <a:t>11</a:t>
                      </a:r>
                    </a:p>
                  </a:txBody>
                  <a:tcPr>
                    <a:solidFill>
                      <a:srgbClr val="FAFA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50" b="0">
                          <a:solidFill>
                            <a:srgbClr val="000000"/>
                          </a:solidFill>
                        </a:rPr>
                        <a:t>2017-09-13 00:00:00</a:t>
                      </a:r>
                    </a:p>
                  </a:txBody>
                  <a:tcPr>
                    <a:solidFill>
                      <a:srgbClr val="FAFA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50" b="0">
                          <a:solidFill>
                            <a:srgbClr val="000000"/>
                          </a:solidFill>
                        </a:rPr>
                        <a:t>2017-09-14 00:30:00</a:t>
                      </a:r>
                    </a:p>
                  </a:txBody>
                  <a:tcPr>
                    <a:solidFill>
                      <a:srgbClr val="FAFA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50" b="0">
                          <a:solidFill>
                            <a:srgbClr val="000000"/>
                          </a:solidFill>
                        </a:rPr>
                        <a:t>1475</a:t>
                      </a:r>
                    </a:p>
                  </a:txBody>
                  <a:tcPr>
                    <a:solidFill>
                      <a:srgbClr val="FAFA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50" b="0">
                          <a:solidFill>
                            <a:srgbClr val="000000"/>
                          </a:solidFill>
                        </a:rPr>
                        <a:t>0.885</a:t>
                      </a:r>
                    </a:p>
                  </a:txBody>
                  <a:tcPr>
                    <a:solidFill>
                      <a:srgbClr val="FAFA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50" b="0">
                          <a:solidFill>
                            <a:srgbClr val="000000"/>
                          </a:solidFill>
                        </a:rPr>
                        <a:t>process_correlated</a:t>
                      </a:r>
                    </a:p>
                  </a:txBody>
                  <a:tcPr>
                    <a:solidFill>
                      <a:srgbClr val="FAFA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50" b="0">
                          <a:solidFill>
                            <a:srgbClr val="000000"/>
                          </a:solidFill>
                        </a:rPr>
                        <a:t>Inlet_Temp; Outlet_Temp</a:t>
                      </a:r>
                    </a:p>
                  </a:txBody>
                  <a:tcPr>
                    <a:solidFill>
                      <a:srgbClr val="FAFAFA"/>
                    </a:solidFill>
                  </a:tcPr>
                </a:tc>
              </a:tr>
              <a:tr h="248602">
                <a:tc>
                  <a:txBody>
                    <a:bodyPr/>
                    <a:lstStyle/>
                    <a:p>
                      <a:pPr algn="l"/>
                      <a:r>
                        <a:rPr sz="850" b="0">
                          <a:solidFill>
                            <a:srgbClr val="000000"/>
                          </a:solidFill>
                        </a:rPr>
                        <a:t>12</a:t>
                      </a:r>
                    </a:p>
                  </a:txBody>
                  <a:tcPr>
                    <a:solidFill>
                      <a:srgbClr val="EEEEEE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50" b="0">
                          <a:solidFill>
                            <a:srgbClr val="000000"/>
                          </a:solidFill>
                        </a:rPr>
                        <a:t>2019-10-26 15:00:00</a:t>
                      </a:r>
                    </a:p>
                  </a:txBody>
                  <a:tcPr>
                    <a:solidFill>
                      <a:srgbClr val="EEEEEE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50" b="0">
                          <a:solidFill>
                            <a:srgbClr val="000000"/>
                          </a:solidFill>
                        </a:rPr>
                        <a:t>2019-10-27 06:55:00</a:t>
                      </a:r>
                    </a:p>
                  </a:txBody>
                  <a:tcPr>
                    <a:solidFill>
                      <a:srgbClr val="EEEEEE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50" b="0">
                          <a:solidFill>
                            <a:srgbClr val="000000"/>
                          </a:solidFill>
                        </a:rPr>
                        <a:t>960</a:t>
                      </a:r>
                    </a:p>
                  </a:txBody>
                  <a:tcPr>
                    <a:solidFill>
                      <a:srgbClr val="EEEEEE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50" b="0">
                          <a:solidFill>
                            <a:srgbClr val="000000"/>
                          </a:solidFill>
                        </a:rPr>
                        <a:t>0.882</a:t>
                      </a:r>
                    </a:p>
                  </a:txBody>
                  <a:tcPr>
                    <a:solidFill>
                      <a:srgbClr val="EEEEEE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50" b="0">
                          <a:solidFill>
                            <a:srgbClr val="000000"/>
                          </a:solidFill>
                        </a:rPr>
                        <a:t>process_correlated</a:t>
                      </a:r>
                    </a:p>
                  </a:txBody>
                  <a:tcPr>
                    <a:solidFill>
                      <a:srgbClr val="EEEEEE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50" b="0">
                          <a:solidFill>
                            <a:srgbClr val="000000"/>
                          </a:solidFill>
                        </a:rPr>
                        <a:t>Inlet_Temp; Mat_Temp; Outlet_draft; cone_draf</a:t>
                      </a:r>
                    </a:p>
                  </a:txBody>
                  <a:tcPr>
                    <a:solidFill>
                      <a:srgbClr val="EEEEEE"/>
                    </a:solidFill>
                  </a:tcPr>
                </a:tc>
              </a:tr>
              <a:tr h="248602">
                <a:tc>
                  <a:txBody>
                    <a:bodyPr/>
                    <a:lstStyle/>
                    <a:p>
                      <a:pPr algn="l"/>
                      <a:r>
                        <a:rPr sz="850" b="0">
                          <a:solidFill>
                            <a:srgbClr val="000000"/>
                          </a:solidFill>
                        </a:rPr>
                        <a:t>13</a:t>
                      </a:r>
                    </a:p>
                  </a:txBody>
                  <a:tcPr>
                    <a:solidFill>
                      <a:srgbClr val="FAFA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50" b="0">
                          <a:solidFill>
                            <a:srgbClr val="000000"/>
                          </a:solidFill>
                        </a:rPr>
                        <a:t>2019-04-14 18:40:00</a:t>
                      </a:r>
                    </a:p>
                  </a:txBody>
                  <a:tcPr>
                    <a:solidFill>
                      <a:srgbClr val="FAFA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50" b="0">
                          <a:solidFill>
                            <a:srgbClr val="000000"/>
                          </a:solidFill>
                        </a:rPr>
                        <a:t>2019-04-16 05:55:00</a:t>
                      </a:r>
                    </a:p>
                  </a:txBody>
                  <a:tcPr>
                    <a:solidFill>
                      <a:srgbClr val="FAFA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50" b="0">
                          <a:solidFill>
                            <a:srgbClr val="000000"/>
                          </a:solidFill>
                        </a:rPr>
                        <a:t>2120</a:t>
                      </a:r>
                    </a:p>
                  </a:txBody>
                  <a:tcPr>
                    <a:solidFill>
                      <a:srgbClr val="FAFA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50" b="0">
                          <a:solidFill>
                            <a:srgbClr val="000000"/>
                          </a:solidFill>
                        </a:rPr>
                        <a:t>0.881</a:t>
                      </a:r>
                    </a:p>
                  </a:txBody>
                  <a:tcPr>
                    <a:solidFill>
                      <a:srgbClr val="FAFA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50" b="0">
                          <a:solidFill>
                            <a:srgbClr val="000000"/>
                          </a:solidFill>
                        </a:rPr>
                        <a:t>process_correlated</a:t>
                      </a:r>
                    </a:p>
                  </a:txBody>
                  <a:tcPr>
                    <a:solidFill>
                      <a:srgbClr val="FAFA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50" b="0">
                          <a:solidFill>
                            <a:srgbClr val="000000"/>
                          </a:solidFill>
                        </a:rPr>
                        <a:t>Inlet_Temp; Outlet_Temp</a:t>
                      </a:r>
                    </a:p>
                  </a:txBody>
                  <a:tcPr>
                    <a:solidFill>
                      <a:srgbClr val="FAFAFA"/>
                    </a:solidFill>
                  </a:tcPr>
                </a:tc>
              </a:tr>
              <a:tr h="248602">
                <a:tc>
                  <a:txBody>
                    <a:bodyPr/>
                    <a:lstStyle/>
                    <a:p>
                      <a:pPr algn="l"/>
                      <a:r>
                        <a:rPr sz="850" b="0">
                          <a:solidFill>
                            <a:srgbClr val="000000"/>
                          </a:solidFill>
                        </a:rPr>
                        <a:t>14</a:t>
                      </a:r>
                    </a:p>
                  </a:txBody>
                  <a:tcPr>
                    <a:solidFill>
                      <a:srgbClr val="EEEEEE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50" b="0">
                          <a:solidFill>
                            <a:srgbClr val="000000"/>
                          </a:solidFill>
                        </a:rPr>
                        <a:t>2018-06-12 00:00:00</a:t>
                      </a:r>
                    </a:p>
                  </a:txBody>
                  <a:tcPr>
                    <a:solidFill>
                      <a:srgbClr val="EEEEEE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50" b="0">
                          <a:solidFill>
                            <a:srgbClr val="000000"/>
                          </a:solidFill>
                        </a:rPr>
                        <a:t>2018-06-13 01:20:00</a:t>
                      </a:r>
                    </a:p>
                  </a:txBody>
                  <a:tcPr>
                    <a:solidFill>
                      <a:srgbClr val="EEEEEE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50" b="0">
                          <a:solidFill>
                            <a:srgbClr val="000000"/>
                          </a:solidFill>
                        </a:rPr>
                        <a:t>1525</a:t>
                      </a:r>
                    </a:p>
                  </a:txBody>
                  <a:tcPr>
                    <a:solidFill>
                      <a:srgbClr val="EEEEEE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50" b="0">
                          <a:solidFill>
                            <a:srgbClr val="000000"/>
                          </a:solidFill>
                        </a:rPr>
                        <a:t>0.872</a:t>
                      </a:r>
                    </a:p>
                  </a:txBody>
                  <a:tcPr>
                    <a:solidFill>
                      <a:srgbClr val="EEEEEE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50" b="0">
                          <a:solidFill>
                            <a:srgbClr val="000000"/>
                          </a:solidFill>
                        </a:rPr>
                        <a:t>process_correlated</a:t>
                      </a:r>
                    </a:p>
                  </a:txBody>
                  <a:tcPr>
                    <a:solidFill>
                      <a:srgbClr val="EEEEEE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50" b="0">
                          <a:solidFill>
                            <a:srgbClr val="000000"/>
                          </a:solidFill>
                        </a:rPr>
                        <a:t>Inlet_Temp; Mat_Temp; Outlet_Temp</a:t>
                      </a:r>
                    </a:p>
                  </a:txBody>
                  <a:tcPr>
                    <a:solidFill>
                      <a:srgbClr val="EEEEEE"/>
                    </a:solidFill>
                  </a:tcPr>
                </a:tc>
              </a:tr>
              <a:tr h="248609">
                <a:tc>
                  <a:txBody>
                    <a:bodyPr/>
                    <a:lstStyle/>
                    <a:p>
                      <a:pPr algn="l"/>
                      <a:r>
                        <a:rPr sz="850" b="0">
                          <a:solidFill>
                            <a:srgbClr val="000000"/>
                          </a:solidFill>
                        </a:rPr>
                        <a:t>15</a:t>
                      </a:r>
                    </a:p>
                  </a:txBody>
                  <a:tcPr>
                    <a:solidFill>
                      <a:srgbClr val="FAFA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50" b="0">
                          <a:solidFill>
                            <a:srgbClr val="000000"/>
                          </a:solidFill>
                        </a:rPr>
                        <a:t>2018-05-31 19:05:00</a:t>
                      </a:r>
                    </a:p>
                  </a:txBody>
                  <a:tcPr>
                    <a:solidFill>
                      <a:srgbClr val="FAFA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50" b="0">
                          <a:solidFill>
                            <a:srgbClr val="000000"/>
                          </a:solidFill>
                        </a:rPr>
                        <a:t>2018-06-01 01:20:00</a:t>
                      </a:r>
                    </a:p>
                  </a:txBody>
                  <a:tcPr>
                    <a:solidFill>
                      <a:srgbClr val="FAFA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50" b="0">
                          <a:solidFill>
                            <a:srgbClr val="000000"/>
                          </a:solidFill>
                        </a:rPr>
                        <a:t>380</a:t>
                      </a:r>
                    </a:p>
                  </a:txBody>
                  <a:tcPr>
                    <a:solidFill>
                      <a:srgbClr val="FAFA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50" b="0">
                          <a:solidFill>
                            <a:srgbClr val="000000"/>
                          </a:solidFill>
                        </a:rPr>
                        <a:t>0.872</a:t>
                      </a:r>
                    </a:p>
                  </a:txBody>
                  <a:tcPr>
                    <a:solidFill>
                      <a:srgbClr val="FAFA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50" b="0">
                          <a:solidFill>
                            <a:srgbClr val="000000"/>
                          </a:solidFill>
                        </a:rPr>
                        <a:t>process_correlated</a:t>
                      </a:r>
                    </a:p>
                  </a:txBody>
                  <a:tcPr>
                    <a:solidFill>
                      <a:srgbClr val="FAFA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50" b="0">
                          <a:solidFill>
                            <a:srgbClr val="000000"/>
                          </a:solidFill>
                        </a:rPr>
                        <a:t>Inlet_Temp; Mat_Temp; Outlet_draft; cone_draf</a:t>
                      </a:r>
                    </a:p>
                  </a:txBody>
                  <a:tcPr>
                    <a:solidFill>
                      <a:srgbClr val="FAFAFA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"/>
            <a:ext cx="11274552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000000"/>
                </a:solidFill>
              </a:rPr>
              <a:t>4. Validation &amp; Top Event Inspection</a:t>
            </a:r>
          </a:p>
          <a:p>
            <a:r>
              <a:rPr sz="1300" b="1">
                <a:solidFill>
                  <a:srgbClr val="555555"/>
                </a:solidFill>
              </a:rPr>
              <a:t>Unsupervised validation checks and detailed sensor behavior during top event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143000"/>
            <a:ext cx="530352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</a:pPr>
            <a:r>
              <a:rPr sz="1200" b="1">
                <a:solidFill>
                  <a:srgbClr val="000000"/>
                </a:solidFill>
              </a:rPr>
              <a:t>Statistical &amp; Model Validation:</a:t>
            </a:r>
          </a:p>
          <a:p>
            <a:pPr>
              <a:spcAft>
                <a:spcPts val="500"/>
              </a:spcAft>
            </a:pPr>
            <a:r>
              <a:rPr sz="1200" b="0">
                <a:solidFill>
                  <a:srgbClr val="222222"/>
                </a:solidFill>
              </a:rPr>
              <a:t>• Method Agreement: Spearman correlation = 0.549 (Robust z vs Isolation Forest).</a:t>
            </a:r>
          </a:p>
          <a:p>
            <a:pPr>
              <a:spcAft>
                <a:spcPts val="500"/>
              </a:spcAft>
            </a:pPr>
            <a:r>
              <a:rPr sz="1200" b="0">
                <a:solidFill>
                  <a:srgbClr val="222222"/>
                </a:solidFill>
              </a:rPr>
              <a:t>• Regime Quality: K-Means k=2 achieves Silhouette = 0.852, Davies-Bouldin = 0.213.</a:t>
            </a:r>
          </a:p>
          <a:p>
            <a:pPr>
              <a:spcAft>
                <a:spcPts val="500"/>
              </a:spcAft>
            </a:pPr>
            <a:r>
              <a:rPr sz="1200" b="0">
                <a:solidFill>
                  <a:srgbClr val="222222"/>
                </a:solidFill>
              </a:rPr>
              <a:t>• Stability Analysis: 3x3 grid (threshold x window) yields Jaccard 0.71–0.88 across all configs.</a:t>
            </a:r>
          </a:p>
          <a:p>
            <a:pPr>
              <a:spcAft>
                <a:spcPts val="500"/>
              </a:spcAft>
            </a:pPr>
            <a:r>
              <a:rPr sz="1200" b="1">
                <a:solidFill>
                  <a:srgbClr val="000000"/>
                </a:solidFill>
              </a:rPr>
              <a:t>Physical &amp; Process Plausibility:</a:t>
            </a:r>
          </a:p>
          <a:p>
            <a:pPr>
              <a:spcAft>
                <a:spcPts val="500"/>
              </a:spcAft>
            </a:pPr>
            <a:r>
              <a:rPr sz="1200" b="0">
                <a:solidFill>
                  <a:srgbClr val="222222"/>
                </a:solidFill>
              </a:rPr>
              <a:t>• 53.3% of periods involve &gt;=2 physically coupled sensors deviating in synchrony.</a:t>
            </a:r>
          </a:p>
          <a:p>
            <a:pPr>
              <a:spcAft>
                <a:spcPts val="500"/>
              </a:spcAft>
            </a:pPr>
            <a:r>
              <a:rPr sz="1200" b="0">
                <a:solidFill>
                  <a:srgbClr val="222222"/>
                </a:solidFill>
              </a:rPr>
              <a:t>• 95.1% of all flagged samples fall within confirmed &gt;=30 min persistent runs.</a:t>
            </a:r>
          </a:p>
          <a:p>
            <a:pPr>
              <a:spcAft>
                <a:spcPts val="500"/>
              </a:spcAft>
            </a:pPr>
            <a:r>
              <a:rPr sz="1200" b="1">
                <a:solidFill>
                  <a:srgbClr val="000000"/>
                </a:solidFill>
              </a:rPr>
              <a:t>Engineering Limitations:</a:t>
            </a:r>
          </a:p>
          <a:p>
            <a:pPr>
              <a:spcAft>
                <a:spcPts val="500"/>
              </a:spcAft>
            </a:pPr>
            <a:r>
              <a:rPr sz="1200" b="0">
                <a:solidFill>
                  <a:srgbClr val="222222"/>
                </a:solidFill>
              </a:rPr>
              <a:t>• Unlabeled Data: Absence of ground-truth labels precludes supervised precision/recall.</a:t>
            </a:r>
          </a:p>
          <a:p>
            <a:pPr>
              <a:spcAft>
                <a:spcPts val="500"/>
              </a:spcAft>
            </a:pPr>
            <a:r>
              <a:rPr sz="1200" b="0">
                <a:solidFill>
                  <a:srgbClr val="222222"/>
                </a:solidFill>
              </a:rPr>
              <a:t>• Historian Context: 6 SCADA channels available; kiln feed rate &amp; damper positions required for root-cause diagnosis.</a:t>
            </a:r>
          </a:p>
        </p:txBody>
      </p:sp>
      <p:pic>
        <p:nvPicPr>
          <p:cNvPr id="4" name="Picture 3" descr="08_top_period_zoom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43600" y="1234440"/>
            <a:ext cx="5760720" cy="329184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